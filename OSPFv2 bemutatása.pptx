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8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2159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2218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884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84618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6231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34848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0391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2416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4944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64206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8171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81C45D4-3EA8-416B-BCDD-4884309C254F}" type="datetimeFigureOut">
              <a:rPr lang="hu-HU" smtClean="0"/>
              <a:t>2025. 10. 01.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5AC2840-5F3B-4B08-B338-217D1826F0AE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6247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BDE9070-4E68-40CC-BFF7-3206310F17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OSPF bemutatása 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7B63B90-75D3-451A-9050-931B2C6CDE6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Készítette: Nagy </a:t>
            </a:r>
            <a:r>
              <a:rPr lang="hu-HU" dirty="0" err="1"/>
              <a:t>károly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76540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10BC051-60DD-48D1-99D4-58EC0DBA9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Miről szól az OSPF?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11803FF-A845-4E55-9AD4-0A882D425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Egy </a:t>
            </a:r>
            <a:r>
              <a:rPr lang="hu-HU" dirty="0">
                <a:solidFill>
                  <a:srgbClr val="FF0000"/>
                </a:solidFill>
              </a:rPr>
              <a:t>útválasztó protokoll </a:t>
            </a:r>
            <a:r>
              <a:rPr lang="hu-HU" dirty="0"/>
              <a:t>mely segíti a routereket a legrövidebb úton célba juttatni Ipv4-es vagy ipv6-os hálózatban.</a:t>
            </a:r>
          </a:p>
          <a:p>
            <a:r>
              <a:rPr lang="hu-HU" dirty="0"/>
              <a:t>Kiszámoláshoz a </a:t>
            </a:r>
            <a:r>
              <a:rPr lang="hu-HU" b="1" dirty="0" err="1">
                <a:solidFill>
                  <a:srgbClr val="FF0000"/>
                </a:solidFill>
              </a:rPr>
              <a:t>Dijkstra</a:t>
            </a:r>
            <a:r>
              <a:rPr lang="hu-HU" b="1" dirty="0">
                <a:solidFill>
                  <a:srgbClr val="FF0000"/>
                </a:solidFill>
              </a:rPr>
              <a:t> </a:t>
            </a:r>
            <a:r>
              <a:rPr lang="hu-HU" dirty="0">
                <a:solidFill>
                  <a:srgbClr val="FF0000"/>
                </a:solidFill>
              </a:rPr>
              <a:t>algoritmust </a:t>
            </a:r>
            <a:r>
              <a:rPr lang="hu-HU" dirty="0"/>
              <a:t>használja.</a:t>
            </a:r>
          </a:p>
          <a:p>
            <a:r>
              <a:rPr lang="hu-HU" dirty="0"/>
              <a:t>Működéshez a routerek link-</a:t>
            </a:r>
            <a:r>
              <a:rPr lang="hu-HU" dirty="0" err="1"/>
              <a:t>state</a:t>
            </a:r>
            <a:r>
              <a:rPr lang="hu-HU" dirty="0"/>
              <a:t> (kapcsolatállapot) információkat cserélnek amiből a routerek egy teljes „térképet” (topológiát) a hálózatról.</a:t>
            </a:r>
          </a:p>
          <a:p>
            <a:endParaRPr lang="hu-HU" dirty="0"/>
          </a:p>
          <a:p>
            <a:r>
              <a:rPr lang="hu-H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17133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222FABF-2582-4CF1-ABC5-03CAD4D35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OSPF alkotórészei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64F9717-ADC3-4FCB-A7B0-98F09F76F42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</a:t>
            </a:r>
            <a:r>
              <a:rPr lang="hu-HU" sz="2200" dirty="0" err="1"/>
              <a:t>Routing</a:t>
            </a:r>
            <a:r>
              <a:rPr lang="hu-HU" sz="2200" dirty="0"/>
              <a:t> protokoll üzenetek:</a:t>
            </a:r>
          </a:p>
          <a:p>
            <a:pPr marL="0" indent="0">
              <a:buNone/>
            </a:pPr>
            <a:endParaRPr lang="hu-HU" sz="2200" dirty="0"/>
          </a:p>
          <a:p>
            <a:pPr marL="0" indent="0">
              <a:buNone/>
            </a:pPr>
            <a:r>
              <a:rPr lang="hu-HU" sz="2200" dirty="0"/>
              <a:t>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200" dirty="0"/>
              <a:t> Adatstruktúrák </a:t>
            </a:r>
          </a:p>
          <a:p>
            <a:pPr>
              <a:buFont typeface="Wingdings" panose="05000000000000000000" pitchFamily="2" charset="2"/>
              <a:buChar char="§"/>
            </a:pPr>
            <a:endParaRPr lang="hu-HU" sz="2200" dirty="0"/>
          </a:p>
          <a:p>
            <a:pPr>
              <a:buFont typeface="Wingdings" panose="05000000000000000000" pitchFamily="2" charset="2"/>
              <a:buChar char="§"/>
            </a:pPr>
            <a:endParaRPr lang="hu-HU" sz="2200" dirty="0"/>
          </a:p>
          <a:p>
            <a:pPr>
              <a:buFont typeface="Wingdings" panose="05000000000000000000" pitchFamily="2" charset="2"/>
              <a:buChar char="§"/>
            </a:pPr>
            <a:endParaRPr lang="hu-HU" sz="2200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sz="2200" dirty="0"/>
              <a:t> Algoritmus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CAB7263-84E8-4A3A-ADE0-A73A8886E2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u-HU" sz="1800" dirty="0"/>
              <a:t> RIP(Útvonal-információk lekérése és elküldése), OSPF (Szomszédság kialakulása), EIGRP (Szomszédság kialakulása), BGP (Hiba kezelés)</a:t>
            </a:r>
          </a:p>
          <a:p>
            <a:pPr>
              <a:buFont typeface="Wingdings" panose="05000000000000000000" pitchFamily="2" charset="2"/>
              <a:buChar char="§"/>
            </a:pPr>
            <a:endParaRPr lang="hu-HU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sz="1800" dirty="0"/>
              <a:t> Szomszédtáblázat(</a:t>
            </a:r>
            <a:r>
              <a:rPr lang="hu-HU" sz="1800" dirty="0" err="1"/>
              <a:t>Neighbor</a:t>
            </a:r>
            <a:r>
              <a:rPr lang="hu-HU" sz="1800" dirty="0"/>
              <a:t> </a:t>
            </a:r>
            <a:r>
              <a:rPr lang="hu-HU" sz="1800" dirty="0" err="1"/>
              <a:t>Table</a:t>
            </a:r>
            <a:r>
              <a:rPr lang="hu-HU" sz="1800" dirty="0"/>
              <a:t>), Link-</a:t>
            </a:r>
            <a:r>
              <a:rPr lang="hu-HU" sz="1800" dirty="0" err="1"/>
              <a:t>State</a:t>
            </a:r>
            <a:r>
              <a:rPr lang="hu-HU" sz="1800" dirty="0"/>
              <a:t> Adatbázis(LSDB - Link-</a:t>
            </a:r>
            <a:r>
              <a:rPr lang="hu-HU" sz="1800" dirty="0" err="1"/>
              <a:t>State</a:t>
            </a:r>
            <a:r>
              <a:rPr lang="hu-HU" sz="1800" dirty="0"/>
              <a:t> </a:t>
            </a:r>
            <a:r>
              <a:rPr lang="hu-HU" sz="1800" dirty="0" err="1"/>
              <a:t>Database</a:t>
            </a:r>
            <a:r>
              <a:rPr lang="hu-HU" sz="18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1800" dirty="0"/>
              <a:t> </a:t>
            </a:r>
            <a:r>
              <a:rPr lang="hu-HU" sz="1800" dirty="0" err="1"/>
              <a:t>Routingtábla</a:t>
            </a:r>
            <a:r>
              <a:rPr lang="hu-HU" sz="1800" dirty="0"/>
              <a:t>(</a:t>
            </a:r>
            <a:r>
              <a:rPr lang="hu-HU" sz="1800" dirty="0" err="1"/>
              <a:t>Routing</a:t>
            </a:r>
            <a:r>
              <a:rPr lang="hu-HU" sz="1800" dirty="0"/>
              <a:t> </a:t>
            </a:r>
            <a:r>
              <a:rPr lang="hu-HU" sz="1800" dirty="0" err="1"/>
              <a:t>Table</a:t>
            </a:r>
            <a:r>
              <a:rPr lang="hu-HU" sz="18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endParaRPr lang="hu-HU" sz="1800" dirty="0"/>
          </a:p>
          <a:p>
            <a:pPr>
              <a:buFont typeface="Wingdings" panose="05000000000000000000" pitchFamily="2" charset="2"/>
              <a:buChar char="§"/>
            </a:pPr>
            <a:endParaRPr lang="hu-HU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hu-HU" sz="1800" dirty="0"/>
              <a:t> </a:t>
            </a:r>
            <a:r>
              <a:rPr lang="hu-HU" sz="1800" dirty="0" err="1"/>
              <a:t>Dijkstra</a:t>
            </a:r>
            <a:r>
              <a:rPr lang="hu-HU" sz="1800" dirty="0"/>
              <a:t> STP-algoritmus </a:t>
            </a:r>
          </a:p>
        </p:txBody>
      </p:sp>
    </p:spTree>
    <p:extLst>
      <p:ext uri="{BB962C8B-B14F-4D97-AF65-F5344CB8AC3E}">
        <p14:creationId xmlns:p14="http://schemas.microsoft.com/office/powerpoint/2010/main" val="279649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717A103-5F05-48BD-9CD1-0E625232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Kapcsolatállapot alapú működés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657C627-82CA-4152-AD9B-C14F33193C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6070" y="1845734"/>
            <a:ext cx="4868968" cy="4023359"/>
          </a:xfrm>
        </p:spPr>
        <p:txBody>
          <a:bodyPr>
            <a:normAutofit fontScale="70000" lnSpcReduction="2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hu-HU" dirty="0"/>
              <a:t> </a:t>
            </a:r>
            <a:r>
              <a:rPr lang="hu-HU" sz="2600" dirty="0"/>
              <a:t>Szomszédsági kapcsolatok kialakítása</a:t>
            </a:r>
          </a:p>
          <a:p>
            <a:pPr marL="457200" indent="-457200">
              <a:buFont typeface="+mj-lt"/>
              <a:buAutoNum type="arabicPeriod"/>
            </a:pPr>
            <a:endParaRPr lang="hu-HU" sz="2600" dirty="0"/>
          </a:p>
          <a:p>
            <a:pPr marL="457200" indent="-457200">
              <a:buFont typeface="+mj-lt"/>
              <a:buAutoNum type="arabicPeriod"/>
            </a:pPr>
            <a:r>
              <a:rPr lang="hu-HU" sz="2600" dirty="0"/>
              <a:t> Kapcsolatállapot hirdetések cseréje</a:t>
            </a:r>
          </a:p>
          <a:p>
            <a:pPr marL="457200" indent="-457200">
              <a:buFont typeface="+mj-lt"/>
              <a:buAutoNum type="arabicPeriod"/>
            </a:pPr>
            <a:endParaRPr lang="hu-HU" sz="2600" dirty="0"/>
          </a:p>
          <a:p>
            <a:pPr marL="457200" indent="-457200">
              <a:buFont typeface="+mj-lt"/>
              <a:buAutoNum type="arabicPeriod"/>
            </a:pPr>
            <a:endParaRPr lang="hu-HU" sz="2600" dirty="0"/>
          </a:p>
          <a:p>
            <a:pPr marL="457200" indent="-457200">
              <a:buFont typeface="+mj-lt"/>
              <a:buAutoNum type="arabicPeriod"/>
            </a:pPr>
            <a:r>
              <a:rPr lang="hu-HU" sz="2600" dirty="0"/>
              <a:t> Kapcsolatállapot adatbázis építése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r>
              <a:rPr lang="hu-HU" dirty="0"/>
              <a:t> </a:t>
            </a:r>
          </a:p>
          <a:p>
            <a:pPr marL="0" indent="0">
              <a:buNone/>
            </a:pPr>
            <a:r>
              <a:rPr lang="hu-HU" dirty="0"/>
              <a:t> </a:t>
            </a:r>
          </a:p>
          <a:p>
            <a:pPr marL="0" indent="0">
              <a:buNone/>
            </a:pPr>
            <a:r>
              <a:rPr lang="hu-HU" dirty="0"/>
              <a:t> </a:t>
            </a:r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  <a:p>
            <a:pPr marL="0" indent="0">
              <a:buNone/>
            </a:pP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0526847F-0121-4950-8BEB-BCFCA66D5FC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hu-HU" sz="2100" dirty="0"/>
              <a:t> Az OSPF-routerek először Hello csomagokkal </a:t>
            </a:r>
            <a:r>
              <a:rPr lang="hu-HU" sz="2100" b="1" dirty="0"/>
              <a:t>felfedezik egymást</a:t>
            </a:r>
            <a:r>
              <a:rPr lang="hu-HU" sz="2100" dirty="0"/>
              <a:t>, majd ha a beállítások megegyeznek, </a:t>
            </a:r>
            <a:r>
              <a:rPr lang="hu-HU" sz="2100" b="1" dirty="0"/>
              <a:t>szomszédságot alakítanak ki</a:t>
            </a:r>
            <a:r>
              <a:rPr lang="hu-HU" sz="2100" dirty="0"/>
              <a:t>. Ez szükséges ahhoz, hogy </a:t>
            </a:r>
            <a:r>
              <a:rPr lang="hu-HU" sz="2100" b="1" dirty="0"/>
              <a:t>útvonal-információkat</a:t>
            </a:r>
            <a:r>
              <a:rPr lang="hu-HU" sz="2100" dirty="0"/>
              <a:t> tudjanak egymással </a:t>
            </a:r>
            <a:r>
              <a:rPr lang="hu-HU" sz="2100" b="1" dirty="0"/>
              <a:t>megosztani</a:t>
            </a:r>
            <a:r>
              <a:rPr lang="hu-HU" sz="21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100" dirty="0"/>
              <a:t> Az LSA-csere lényege, hogy minden OSPF-router </a:t>
            </a:r>
            <a:r>
              <a:rPr lang="hu-HU" sz="2100" b="1" dirty="0"/>
              <a:t>megosztja a saját kapcsolatairól szóló információkat</a:t>
            </a:r>
            <a:r>
              <a:rPr lang="hu-HU" sz="2100" dirty="0"/>
              <a:t> a többiekkel, hogy </a:t>
            </a:r>
            <a:r>
              <a:rPr lang="hu-HU" sz="2100" b="1" dirty="0"/>
              <a:t>minden router ugyanazt a topológiát lássa</a:t>
            </a:r>
            <a:r>
              <a:rPr lang="hu-HU" sz="2100" dirty="0"/>
              <a:t>, és így </a:t>
            </a:r>
            <a:r>
              <a:rPr lang="hu-HU" sz="2100" b="1" dirty="0"/>
              <a:t>helyesen tudja kiszámítani</a:t>
            </a:r>
            <a:r>
              <a:rPr lang="hu-HU" sz="2100" dirty="0"/>
              <a:t> a legrövidebb útvonalakat.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sz="2100" dirty="0"/>
              <a:t> Az LSA-k alapján az OSPF-routerek </a:t>
            </a:r>
            <a:r>
              <a:rPr lang="hu-HU" sz="2100" b="1" dirty="0"/>
              <a:t>topológia táblát (LSDB-t)</a:t>
            </a:r>
            <a:r>
              <a:rPr lang="hu-HU" sz="2100" dirty="0"/>
              <a:t> építenek, amely a hálózat </a:t>
            </a:r>
            <a:r>
              <a:rPr lang="hu-HU" sz="2100" b="1" dirty="0"/>
              <a:t>teljes és naprakész térképét</a:t>
            </a:r>
            <a:r>
              <a:rPr lang="hu-HU" sz="2100" dirty="0"/>
              <a:t> tartalmazza. Ez a térkép a kulcsa annak, hogy minden router </a:t>
            </a:r>
            <a:r>
              <a:rPr lang="hu-HU" sz="2100" b="1" dirty="0"/>
              <a:t>helyesen tudjon útvonalat választani</a:t>
            </a:r>
            <a:r>
              <a:rPr lang="hu-HU" sz="2100" dirty="0"/>
              <a:t>.</a:t>
            </a:r>
          </a:p>
          <a:p>
            <a:endParaRPr lang="hu-HU" sz="1600" dirty="0"/>
          </a:p>
          <a:p>
            <a:endParaRPr lang="hu-HU" sz="1600" dirty="0"/>
          </a:p>
        </p:txBody>
      </p:sp>
    </p:spTree>
    <p:extLst>
      <p:ext uri="{BB962C8B-B14F-4D97-AF65-F5344CB8AC3E}">
        <p14:creationId xmlns:p14="http://schemas.microsoft.com/office/powerpoint/2010/main" val="457290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6BF459F-2ACA-42F7-A1BD-8B4290DA9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/>
              <a:t>Kapcsolatállapot alapú működés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1335F9-9E8F-461A-942F-79FC199E74B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hu-HU" dirty="0"/>
              <a:t>Az SPF-algoritmus lefuttatása</a:t>
            </a:r>
          </a:p>
          <a:p>
            <a:pPr marL="457200" indent="-457200">
              <a:buFont typeface="+mj-lt"/>
              <a:buAutoNum type="arabicPeriod"/>
            </a:pPr>
            <a:endParaRPr lang="hu-HU" dirty="0"/>
          </a:p>
          <a:p>
            <a:pPr marL="457200" indent="-457200">
              <a:buFont typeface="+mj-lt"/>
              <a:buAutoNum type="arabicPeriod"/>
            </a:pPr>
            <a:endParaRPr lang="hu-HU" dirty="0"/>
          </a:p>
          <a:p>
            <a:pPr marL="457200" indent="-457200">
              <a:buFont typeface="+mj-lt"/>
              <a:buAutoNum type="arabicPeriod"/>
            </a:pPr>
            <a:r>
              <a:rPr lang="hu-HU" dirty="0"/>
              <a:t>A legjobb útvonal kiválasztása</a:t>
            </a:r>
          </a:p>
          <a:p>
            <a:pPr marL="457200" indent="-457200">
              <a:buFont typeface="+mj-lt"/>
              <a:buAutoNum type="arabicPeriod"/>
            </a:pP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CFB2CD4-7E6F-468C-A6F1-7FE604047A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Az </a:t>
            </a:r>
            <a:r>
              <a:rPr lang="hu-HU" b="1" dirty="0"/>
              <a:t>SPF-algoritmus</a:t>
            </a:r>
            <a:r>
              <a:rPr lang="hu-HU" dirty="0"/>
              <a:t> kiszámítja a router számára a </a:t>
            </a:r>
            <a:r>
              <a:rPr lang="hu-HU" b="1" dirty="0"/>
              <a:t>legrövidebb útvonalakat</a:t>
            </a:r>
            <a:r>
              <a:rPr lang="hu-HU" dirty="0"/>
              <a:t> az LSDB alapján.</a:t>
            </a:r>
            <a:br>
              <a:rPr lang="hu-HU" dirty="0"/>
            </a:br>
            <a:r>
              <a:rPr lang="hu-HU" dirty="0"/>
              <a:t>Az eredmény egy </a:t>
            </a:r>
            <a:r>
              <a:rPr lang="hu-HU" b="1" dirty="0"/>
              <a:t>irányított fa (SPF-fa)</a:t>
            </a:r>
            <a:r>
              <a:rPr lang="hu-HU" dirty="0"/>
              <a:t>, amelyből a router felépíti a saját </a:t>
            </a:r>
            <a:r>
              <a:rPr lang="hu-HU" b="1" dirty="0"/>
              <a:t>útválasztási tábláját</a:t>
            </a:r>
            <a:r>
              <a:rPr lang="hu-HU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hu-HU" dirty="0"/>
              <a:t> Az OSPF által kiszámított legjobb útvonalak </a:t>
            </a:r>
            <a:r>
              <a:rPr lang="hu-HU" b="1" dirty="0"/>
              <a:t>csak akkor kerülnek az irányítótáblába</a:t>
            </a:r>
            <a:r>
              <a:rPr lang="hu-HU" dirty="0"/>
              <a:t>, ha nincs már ott </a:t>
            </a:r>
            <a:r>
              <a:rPr lang="hu-HU" b="1" dirty="0"/>
              <a:t>megbízhatóbb</a:t>
            </a:r>
            <a:r>
              <a:rPr lang="hu-HU" dirty="0"/>
              <a:t> (alacsonyabb adminisztratív távolságú) út.</a:t>
            </a:r>
            <a:br>
              <a:rPr lang="hu-HU" dirty="0"/>
            </a:br>
            <a:r>
              <a:rPr lang="hu-HU" dirty="0"/>
              <a:t>A forgalomirányítás </a:t>
            </a:r>
            <a:r>
              <a:rPr lang="hu-HU" b="1" dirty="0"/>
              <a:t>mindig az irányítótábla alapján</a:t>
            </a:r>
            <a:r>
              <a:rPr lang="hu-HU" dirty="0"/>
              <a:t> történik ez a router „térképe”.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250437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CB737A7-3896-471D-8B01-A276DC6F8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Egyterületű és többterületű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D90F06D-D30A-4162-AE13-95D1B29AEE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hu-HU" b="1" dirty="0"/>
              <a:t>Egyterületű OSPF:</a:t>
            </a:r>
            <a:r>
              <a:rPr lang="hu-HU" dirty="0"/>
              <a:t> Minden router ugyanazt a területet használja. Ajánlott a 0-s terület használata.</a:t>
            </a:r>
          </a:p>
          <a:p>
            <a:endParaRPr lang="hu-HU" dirty="0"/>
          </a:p>
          <a:p>
            <a:endParaRPr lang="hu-HU" dirty="0"/>
          </a:p>
          <a:p>
            <a:r>
              <a:rPr lang="hu-HU" b="1" dirty="0"/>
              <a:t>Többterületű OSPF:</a:t>
            </a:r>
            <a:r>
              <a:rPr lang="hu-HU" dirty="0"/>
              <a:t> Az OSPF több területet használ, hierarchikusan kialakítva. Valamennyi területnek a gerinc területhez (</a:t>
            </a:r>
            <a:r>
              <a:rPr lang="hu-HU" dirty="0" err="1"/>
              <a:t>area</a:t>
            </a:r>
            <a:r>
              <a:rPr lang="hu-HU" dirty="0"/>
              <a:t> 0) kell kapcsolódnia. A területeket összekötő routereket határ routernek (</a:t>
            </a:r>
            <a:r>
              <a:rPr lang="hu-HU" dirty="0" err="1"/>
              <a:t>Area</a:t>
            </a:r>
            <a:r>
              <a:rPr lang="hu-HU" dirty="0"/>
              <a:t> </a:t>
            </a:r>
            <a:r>
              <a:rPr lang="hu-HU" dirty="0" err="1"/>
              <a:t>Border</a:t>
            </a:r>
            <a:r>
              <a:rPr lang="hu-HU" dirty="0"/>
              <a:t> </a:t>
            </a:r>
            <a:r>
              <a:rPr lang="hu-HU" dirty="0" err="1"/>
              <a:t>Routers</a:t>
            </a:r>
            <a:r>
              <a:rPr lang="hu-HU" dirty="0"/>
              <a:t>, ABR) nevezzük.</a:t>
            </a:r>
          </a:p>
          <a:p>
            <a:endParaRPr lang="hu-HU" dirty="0"/>
          </a:p>
          <a:p>
            <a:endParaRPr lang="hu-HU" dirty="0"/>
          </a:p>
        </p:txBody>
      </p:sp>
      <p:pic>
        <p:nvPicPr>
          <p:cNvPr id="5" name="Tartalom helye 4">
            <a:extLst>
              <a:ext uri="{FF2B5EF4-FFF2-40B4-BE49-F238E27FC236}">
                <a16:creationId xmlns:a16="http://schemas.microsoft.com/office/drawing/2014/main" id="{04B3D355-0889-40DF-99AB-991F1D09835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57595" y="1737360"/>
            <a:ext cx="4937125" cy="1830544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60921B80-E27C-4E2E-B78E-19FBA084D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38" y="3634284"/>
            <a:ext cx="5862723" cy="2207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81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A821EE-F0D3-4656-9D28-E907EDC3B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OSPF csomagok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6503D6-8FB4-44F0-96B0-BA6179FE98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hu-HU" dirty="0"/>
              <a:t>Hello csomag</a:t>
            </a:r>
          </a:p>
          <a:p>
            <a:r>
              <a:rPr lang="hu-HU" dirty="0"/>
              <a:t>Adatbázisleíró (DBD) csomag</a:t>
            </a:r>
          </a:p>
          <a:p>
            <a:r>
              <a:rPr lang="hu-HU" dirty="0"/>
              <a:t>Kapcsolatállapot kérés (LSR) csomag</a:t>
            </a:r>
          </a:p>
          <a:p>
            <a:r>
              <a:rPr lang="hu-HU" dirty="0"/>
              <a:t>Kapcsolatállapot frissítés (LSU) csomag</a:t>
            </a:r>
          </a:p>
          <a:p>
            <a:r>
              <a:rPr lang="hu-HU" dirty="0"/>
              <a:t>Kapcsolatállapot nyugta (</a:t>
            </a:r>
            <a:r>
              <a:rPr lang="hu-HU" dirty="0" err="1"/>
              <a:t>LSAck</a:t>
            </a:r>
            <a:r>
              <a:rPr lang="hu-HU" dirty="0"/>
              <a:t>) csomag</a:t>
            </a:r>
          </a:p>
          <a:p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24797975-34A5-461B-9B8F-FF085FA1D5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hu-HU" sz="1800" dirty="0"/>
              <a:t>A szomszédok felderítés és szomszédsági viszonyok felépítése </a:t>
            </a:r>
          </a:p>
          <a:p>
            <a:r>
              <a:rPr lang="hu-HU" sz="1800" dirty="0"/>
              <a:t>Az adatbázis szinkronizáció biztosítása a routerek között</a:t>
            </a:r>
          </a:p>
          <a:p>
            <a:r>
              <a:rPr lang="hu-HU" sz="1800" dirty="0"/>
              <a:t>Egy konkrét kapcsolatállapot rekord kérése a szomszéd router </a:t>
            </a:r>
          </a:p>
          <a:p>
            <a:r>
              <a:rPr lang="hu-HU" sz="1800" dirty="0"/>
              <a:t>Egy konkrétan kért kapcsolatállapot rekord küldése</a:t>
            </a:r>
          </a:p>
          <a:p>
            <a:r>
              <a:rPr lang="hu-HU" sz="1800" dirty="0"/>
              <a:t>Nyugtázza a többi csomagtípus fogadását</a:t>
            </a:r>
          </a:p>
        </p:txBody>
      </p:sp>
    </p:spTree>
    <p:extLst>
      <p:ext uri="{BB962C8B-B14F-4D97-AF65-F5344CB8AC3E}">
        <p14:creationId xmlns:p14="http://schemas.microsoft.com/office/powerpoint/2010/main" val="37620956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4A13B4-D339-429F-88D7-49A47F656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Hogy állítsuk be az OSPFv2-őt? 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AC7FD6F-88E7-4C43-AFE1-51682D61395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hu-HU" sz="1800" dirty="0" err="1"/>
              <a:t>enable</a:t>
            </a:r>
            <a:endParaRPr lang="hu-HU" sz="1800" dirty="0"/>
          </a:p>
          <a:p>
            <a:r>
              <a:rPr lang="hu-HU" sz="1800" dirty="0" err="1"/>
              <a:t>configure</a:t>
            </a:r>
            <a:r>
              <a:rPr lang="hu-HU" sz="1800" dirty="0"/>
              <a:t> </a:t>
            </a:r>
            <a:r>
              <a:rPr lang="hu-HU" sz="1800" dirty="0" err="1"/>
              <a:t>terminal</a:t>
            </a:r>
            <a:endParaRPr lang="hu-HU" sz="1800" dirty="0"/>
          </a:p>
          <a:p>
            <a:r>
              <a:rPr lang="hu-HU" sz="1800" dirty="0"/>
              <a:t>router </a:t>
            </a:r>
            <a:r>
              <a:rPr lang="hu-HU" sz="1800" dirty="0" err="1"/>
              <a:t>ospf</a:t>
            </a:r>
            <a:r>
              <a:rPr lang="hu-HU" sz="1800" dirty="0"/>
              <a:t> 1</a:t>
            </a:r>
          </a:p>
          <a:p>
            <a:r>
              <a:rPr lang="hu-HU" sz="1800" dirty="0"/>
              <a:t>R1:</a:t>
            </a:r>
          </a:p>
          <a:p>
            <a:pPr lvl="1"/>
            <a:r>
              <a:rPr lang="hu-HU" dirty="0"/>
              <a:t>i</a:t>
            </a:r>
            <a:r>
              <a:rPr lang="en-US" dirty="0" err="1"/>
              <a:t>nterface</a:t>
            </a:r>
            <a:r>
              <a:rPr lang="en-US" dirty="0"/>
              <a:t> Loopback0</a:t>
            </a:r>
            <a:r>
              <a:rPr lang="hu-HU" dirty="0"/>
              <a:t> (virtuális interfész)</a:t>
            </a:r>
          </a:p>
          <a:p>
            <a:pPr lvl="1"/>
            <a:r>
              <a:rPr lang="en-US" dirty="0" err="1"/>
              <a:t>ip</a:t>
            </a:r>
            <a:r>
              <a:rPr lang="en-US" dirty="0"/>
              <a:t> address 1.1.1.1 255.255.255.255</a:t>
            </a:r>
            <a:endParaRPr lang="hu-HU" dirty="0"/>
          </a:p>
          <a:p>
            <a:pPr lvl="1"/>
            <a:r>
              <a:rPr lang="en-US" dirty="0"/>
              <a:t>interface FastEthernet0/0</a:t>
            </a:r>
            <a:endParaRPr lang="hu-HU" dirty="0"/>
          </a:p>
          <a:p>
            <a:pPr lvl="1"/>
            <a:r>
              <a:rPr lang="en-US" dirty="0" err="1"/>
              <a:t>ip</a:t>
            </a:r>
            <a:r>
              <a:rPr lang="en-US" dirty="0"/>
              <a:t> address 192.168.12.1 255.255.255.0</a:t>
            </a:r>
            <a:endParaRPr lang="hu-HU" dirty="0"/>
          </a:p>
          <a:p>
            <a:pPr lvl="1"/>
            <a:r>
              <a:rPr lang="en-US" dirty="0"/>
              <a:t>router </a:t>
            </a:r>
            <a:r>
              <a:rPr lang="en-US" dirty="0" err="1"/>
              <a:t>ospf</a:t>
            </a:r>
            <a:r>
              <a:rPr lang="en-US" dirty="0"/>
              <a:t> 1</a:t>
            </a:r>
            <a:endParaRPr lang="hu-HU" dirty="0"/>
          </a:p>
          <a:p>
            <a:pPr lvl="1"/>
            <a:r>
              <a:rPr lang="en-US" dirty="0"/>
              <a:t>network 1.1.1.1 0.0.0.0 area 0</a:t>
            </a:r>
            <a:endParaRPr lang="hu-HU" dirty="0"/>
          </a:p>
          <a:p>
            <a:pPr lvl="1"/>
            <a:r>
              <a:rPr lang="en-US" dirty="0"/>
              <a:t>network 192.168.12.0 0.0.0.255 area 0</a:t>
            </a:r>
          </a:p>
          <a:p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DF0448EB-0165-4F9C-91DE-C0EE27D7A0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hu-HU" sz="1800" dirty="0" err="1"/>
              <a:t>enable</a:t>
            </a:r>
            <a:endParaRPr lang="hu-HU" sz="1800" dirty="0"/>
          </a:p>
          <a:p>
            <a:r>
              <a:rPr lang="hu-HU" sz="1800" dirty="0" err="1"/>
              <a:t>configure</a:t>
            </a:r>
            <a:r>
              <a:rPr lang="hu-HU" sz="1800" dirty="0"/>
              <a:t> </a:t>
            </a:r>
            <a:r>
              <a:rPr lang="hu-HU" sz="1800" dirty="0" err="1"/>
              <a:t>terminal</a:t>
            </a:r>
            <a:endParaRPr lang="hu-HU" sz="1800" dirty="0"/>
          </a:p>
          <a:p>
            <a:r>
              <a:rPr lang="hu-HU" sz="1800" dirty="0"/>
              <a:t>router </a:t>
            </a:r>
            <a:r>
              <a:rPr lang="hu-HU" sz="1800" dirty="0" err="1"/>
              <a:t>ospf</a:t>
            </a:r>
            <a:r>
              <a:rPr lang="hu-HU" sz="1800" dirty="0"/>
              <a:t> 1</a:t>
            </a:r>
          </a:p>
          <a:p>
            <a:r>
              <a:rPr lang="hu-HU" sz="1800" dirty="0"/>
              <a:t>R2:</a:t>
            </a:r>
          </a:p>
          <a:p>
            <a:pPr lvl="1"/>
            <a:r>
              <a:rPr lang="en-US" dirty="0"/>
              <a:t>interface Loopback0</a:t>
            </a:r>
            <a:endParaRPr lang="hu-HU" dirty="0"/>
          </a:p>
          <a:p>
            <a:pPr lvl="1"/>
            <a:r>
              <a:rPr lang="en-US" dirty="0" err="1"/>
              <a:t>ip</a:t>
            </a:r>
            <a:r>
              <a:rPr lang="en-US" dirty="0"/>
              <a:t> address 2.2.2.2 255.255.255.255</a:t>
            </a:r>
            <a:endParaRPr lang="hu-HU" dirty="0"/>
          </a:p>
          <a:p>
            <a:pPr lvl="1"/>
            <a:r>
              <a:rPr lang="en-US" dirty="0"/>
              <a:t>interface FastEthernet0/0</a:t>
            </a:r>
            <a:endParaRPr lang="hu-HU" dirty="0"/>
          </a:p>
          <a:p>
            <a:pPr lvl="1"/>
            <a:r>
              <a:rPr lang="en-US" dirty="0" err="1"/>
              <a:t>ip</a:t>
            </a:r>
            <a:r>
              <a:rPr lang="en-US" dirty="0"/>
              <a:t> address 192.168.12.2 255.255.255.0</a:t>
            </a:r>
            <a:endParaRPr lang="hu-HU" dirty="0"/>
          </a:p>
          <a:p>
            <a:pPr lvl="1"/>
            <a:r>
              <a:rPr lang="en-US" dirty="0"/>
              <a:t>router </a:t>
            </a:r>
            <a:r>
              <a:rPr lang="en-US" dirty="0" err="1"/>
              <a:t>ospf</a:t>
            </a:r>
            <a:r>
              <a:rPr lang="en-US" dirty="0"/>
              <a:t> 1</a:t>
            </a:r>
            <a:endParaRPr lang="hu-HU" dirty="0"/>
          </a:p>
          <a:p>
            <a:pPr lvl="1"/>
            <a:r>
              <a:rPr lang="en-US" dirty="0"/>
              <a:t>network 2.2.2.2 0.0.0.0 area 0</a:t>
            </a:r>
            <a:endParaRPr lang="hu-HU" dirty="0"/>
          </a:p>
          <a:p>
            <a:pPr lvl="1"/>
            <a:r>
              <a:rPr lang="en-US" dirty="0"/>
              <a:t>network 192.168.12.0 0.0.0.255 area 0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54744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147E14D-C9B3-433D-A1AA-E616B5EA4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Hogy állítsuk be az OSPFv3-at?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A602EF1-AA9E-42C8-9E10-CC6912A434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hu-HU" dirty="0" err="1"/>
              <a:t>Enable</a:t>
            </a:r>
            <a:endParaRPr lang="hu-HU" dirty="0"/>
          </a:p>
          <a:p>
            <a:r>
              <a:rPr lang="hu-HU" dirty="0" err="1"/>
              <a:t>Configure</a:t>
            </a:r>
            <a:r>
              <a:rPr lang="hu-HU" dirty="0"/>
              <a:t> </a:t>
            </a:r>
            <a:r>
              <a:rPr lang="hu-HU" dirty="0" err="1"/>
              <a:t>terminal</a:t>
            </a:r>
            <a:endParaRPr lang="hu-HU" dirty="0"/>
          </a:p>
          <a:p>
            <a:r>
              <a:rPr lang="hu-HU" dirty="0"/>
              <a:t>ipv6 </a:t>
            </a:r>
            <a:r>
              <a:rPr lang="hu-HU" dirty="0" err="1"/>
              <a:t>unicast-routing</a:t>
            </a:r>
            <a:endParaRPr lang="hu-HU" dirty="0"/>
          </a:p>
          <a:p>
            <a:r>
              <a:rPr lang="hu-HU" dirty="0"/>
              <a:t>R1:</a:t>
            </a:r>
          </a:p>
          <a:p>
            <a:pPr lvl="1"/>
            <a:r>
              <a:rPr lang="hu-HU" dirty="0" err="1"/>
              <a:t>interface</a:t>
            </a:r>
            <a:r>
              <a:rPr lang="hu-HU" dirty="0"/>
              <a:t> g0/0</a:t>
            </a:r>
          </a:p>
          <a:p>
            <a:pPr lvl="1"/>
            <a:r>
              <a:rPr lang="hu-HU" dirty="0"/>
              <a:t>ipv6 </a:t>
            </a:r>
            <a:r>
              <a:rPr lang="hu-HU" dirty="0" err="1"/>
              <a:t>address</a:t>
            </a:r>
            <a:r>
              <a:rPr lang="hu-HU" dirty="0"/>
              <a:t> 2001:DB8:12::1/64</a:t>
            </a:r>
          </a:p>
          <a:p>
            <a:pPr lvl="1"/>
            <a:r>
              <a:rPr lang="hu-HU" dirty="0"/>
              <a:t>ipv6 </a:t>
            </a:r>
            <a:r>
              <a:rPr lang="hu-HU" dirty="0" err="1"/>
              <a:t>ospf</a:t>
            </a:r>
            <a:r>
              <a:rPr lang="hu-HU" dirty="0"/>
              <a:t> 1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  <a:p>
            <a:pPr lvl="1"/>
            <a:r>
              <a:rPr lang="hu-HU" dirty="0" err="1"/>
              <a:t>interface</a:t>
            </a:r>
            <a:r>
              <a:rPr lang="hu-HU" dirty="0"/>
              <a:t> loopback0</a:t>
            </a:r>
          </a:p>
          <a:p>
            <a:pPr lvl="1"/>
            <a:r>
              <a:rPr lang="hu-HU" dirty="0"/>
              <a:t>ipv6 </a:t>
            </a:r>
            <a:r>
              <a:rPr lang="hu-HU" dirty="0" err="1"/>
              <a:t>address</a:t>
            </a:r>
            <a:r>
              <a:rPr lang="hu-HU" dirty="0"/>
              <a:t> 2001:DB8:1::1/128</a:t>
            </a:r>
          </a:p>
          <a:p>
            <a:pPr lvl="1"/>
            <a:r>
              <a:rPr lang="hu-HU" dirty="0"/>
              <a:t>ipv6 </a:t>
            </a:r>
            <a:r>
              <a:rPr lang="hu-HU" dirty="0" err="1"/>
              <a:t>ospf</a:t>
            </a:r>
            <a:r>
              <a:rPr lang="hu-HU" dirty="0"/>
              <a:t> 1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  <a:p>
            <a:pPr lvl="1"/>
            <a:r>
              <a:rPr lang="fr-FR" dirty="0"/>
              <a:t>ipv6 router </a:t>
            </a:r>
            <a:r>
              <a:rPr lang="fr-FR" dirty="0" err="1"/>
              <a:t>ospf</a:t>
            </a:r>
            <a:r>
              <a:rPr lang="fr-FR" dirty="0"/>
              <a:t> 1</a:t>
            </a:r>
            <a:endParaRPr lang="hu-HU" dirty="0"/>
          </a:p>
          <a:p>
            <a:pPr lvl="1"/>
            <a:r>
              <a:rPr lang="fr-FR" dirty="0"/>
              <a:t>router-id 1.1.1.1</a:t>
            </a:r>
          </a:p>
          <a:p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928B4B7-EF8C-499E-82E0-C7ADDF3D7A1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hu-HU" dirty="0" err="1"/>
              <a:t>Enable</a:t>
            </a:r>
            <a:r>
              <a:rPr lang="hu-HU" dirty="0"/>
              <a:t> </a:t>
            </a:r>
          </a:p>
          <a:p>
            <a:r>
              <a:rPr lang="hu-HU" dirty="0" err="1"/>
              <a:t>Confugre</a:t>
            </a:r>
            <a:r>
              <a:rPr lang="hu-HU" dirty="0"/>
              <a:t> </a:t>
            </a:r>
            <a:r>
              <a:rPr lang="hu-HU" dirty="0" err="1"/>
              <a:t>terminal</a:t>
            </a:r>
            <a:endParaRPr lang="hu-HU" dirty="0"/>
          </a:p>
          <a:p>
            <a:r>
              <a:rPr lang="hu-HU" dirty="0"/>
              <a:t>ipv6 </a:t>
            </a:r>
            <a:r>
              <a:rPr lang="hu-HU" dirty="0" err="1"/>
              <a:t>unicast-routing</a:t>
            </a:r>
            <a:endParaRPr lang="hu-HU" dirty="0"/>
          </a:p>
          <a:p>
            <a:r>
              <a:rPr lang="hu-HU" dirty="0"/>
              <a:t>R2:</a:t>
            </a:r>
          </a:p>
          <a:p>
            <a:pPr lvl="1"/>
            <a:r>
              <a:rPr lang="hu-HU" dirty="0" err="1"/>
              <a:t>interface</a:t>
            </a:r>
            <a:r>
              <a:rPr lang="hu-HU" dirty="0"/>
              <a:t> g0/0</a:t>
            </a:r>
          </a:p>
          <a:p>
            <a:pPr lvl="1"/>
            <a:r>
              <a:rPr lang="hu-HU" dirty="0"/>
              <a:t>ipv6 </a:t>
            </a:r>
            <a:r>
              <a:rPr lang="hu-HU" dirty="0" err="1"/>
              <a:t>address</a:t>
            </a:r>
            <a:r>
              <a:rPr lang="hu-HU" dirty="0"/>
              <a:t> 2001:DB8:12::2/64</a:t>
            </a:r>
          </a:p>
          <a:p>
            <a:pPr lvl="1"/>
            <a:r>
              <a:rPr lang="hu-HU" dirty="0"/>
              <a:t>ipv6 </a:t>
            </a:r>
            <a:r>
              <a:rPr lang="hu-HU" dirty="0" err="1"/>
              <a:t>ospf</a:t>
            </a:r>
            <a:r>
              <a:rPr lang="hu-HU" dirty="0"/>
              <a:t> 1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  <a:p>
            <a:pPr lvl="1"/>
            <a:r>
              <a:rPr lang="hu-HU" dirty="0" err="1"/>
              <a:t>interface</a:t>
            </a:r>
            <a:r>
              <a:rPr lang="hu-HU" dirty="0"/>
              <a:t> loopback0 (virtuális interfész)</a:t>
            </a:r>
          </a:p>
          <a:p>
            <a:pPr lvl="1"/>
            <a:r>
              <a:rPr lang="hu-HU" dirty="0"/>
              <a:t>ipv6 </a:t>
            </a:r>
            <a:r>
              <a:rPr lang="hu-HU" dirty="0" err="1"/>
              <a:t>address</a:t>
            </a:r>
            <a:r>
              <a:rPr lang="hu-HU" dirty="0"/>
              <a:t> 2001:DB8:2::2/128</a:t>
            </a:r>
          </a:p>
          <a:p>
            <a:pPr lvl="1"/>
            <a:r>
              <a:rPr lang="hu-HU" dirty="0"/>
              <a:t>ipv6 </a:t>
            </a:r>
            <a:r>
              <a:rPr lang="hu-HU" dirty="0" err="1"/>
              <a:t>ospf</a:t>
            </a:r>
            <a:r>
              <a:rPr lang="hu-HU" dirty="0"/>
              <a:t> 1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  <a:p>
            <a:pPr lvl="1"/>
            <a:r>
              <a:rPr lang="fr-FR" dirty="0"/>
              <a:t>ipv6 router </a:t>
            </a:r>
            <a:r>
              <a:rPr lang="fr-FR" dirty="0" err="1"/>
              <a:t>ospf</a:t>
            </a:r>
            <a:r>
              <a:rPr lang="fr-FR" dirty="0"/>
              <a:t> 1</a:t>
            </a:r>
          </a:p>
          <a:p>
            <a:pPr lvl="1"/>
            <a:r>
              <a:rPr lang="fr-FR" dirty="0"/>
              <a:t> router-id 2.2.2.2</a:t>
            </a:r>
            <a:endParaRPr lang="hu-HU" dirty="0"/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13792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469CFB1-DA99-4A69-A0D1-5A3DE54D52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Köszönöm a figyelmet!</a:t>
            </a:r>
          </a:p>
        </p:txBody>
      </p:sp>
    </p:spTree>
    <p:extLst>
      <p:ext uri="{BB962C8B-B14F-4D97-AF65-F5344CB8AC3E}">
        <p14:creationId xmlns:p14="http://schemas.microsoft.com/office/powerpoint/2010/main" val="303319872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">
  <a:themeElements>
    <a:clrScheme name="Retrospektív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Retrospektív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0</TotalTime>
  <Words>606</Words>
  <Application>Microsoft Office PowerPoint</Application>
  <PresentationFormat>Szélesvásznú</PresentationFormat>
  <Paragraphs>114</Paragraphs>
  <Slides>10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Wingdings</vt:lpstr>
      <vt:lpstr>Retrospektív</vt:lpstr>
      <vt:lpstr>OSPF bemutatása </vt:lpstr>
      <vt:lpstr>Miről szól az OSPF?</vt:lpstr>
      <vt:lpstr>OSPF alkotórészei </vt:lpstr>
      <vt:lpstr>Kapcsolatállapot alapú működés</vt:lpstr>
      <vt:lpstr>Kapcsolatállapot alapú működés</vt:lpstr>
      <vt:lpstr>Egyterületű és többterületű </vt:lpstr>
      <vt:lpstr>OSPF csomagok </vt:lpstr>
      <vt:lpstr>Hogy állítsuk be az OSPFv2-őt? </vt:lpstr>
      <vt:lpstr>Hogy állítsuk be az OSPFv3-at?</vt:lpstr>
      <vt:lpstr>Köszönöm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OSPFv2 bemutatása</dc:title>
  <dc:creator>Vizsgazo</dc:creator>
  <cp:lastModifiedBy>Vizsgazo</cp:lastModifiedBy>
  <cp:revision>12</cp:revision>
  <dcterms:created xsi:type="dcterms:W3CDTF">2025-09-30T10:10:18Z</dcterms:created>
  <dcterms:modified xsi:type="dcterms:W3CDTF">2025-10-01T10:46:49Z</dcterms:modified>
</cp:coreProperties>
</file>